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 SemiBold"/>
      <p:regular r:id="rId201314"/>
    </p:embeddedFont>
    <p:embeddedFont>
      <p:font typeface="Gelasio"/>
      <p:regular r:id="rId201315"/>
    </p:embeddedFont>
    <p:embeddedFont>
      <p:font typeface="Gelasi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Telecom Customer Churn Prediction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Data Analytics Pipeline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758702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20457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HANIEH REZAEI ·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295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Pipeline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946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71365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80307"/>
            <a:ext cx="19035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Ingestion &amp; EDA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28681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+ Pandas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64946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871365"/>
            <a:ext cx="4005039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980307"/>
            <a:ext cx="27848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Cleaning &amp; Feature Engineering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27616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983557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0925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Server Export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2842" y="27616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983557"/>
            <a:ext cx="4005039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5" name="Text 13"/>
          <p:cNvSpPr/>
          <p:nvPr/>
        </p:nvSpPr>
        <p:spPr>
          <a:xfrm>
            <a:off x="4642842" y="3092500"/>
            <a:ext cx="19413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Training &amp; Tuning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35619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783881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892823"/>
            <a:ext cx="25996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Prediction on New Customers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5619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783881"/>
            <a:ext cx="4005039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892823"/>
            <a:ext cx="18101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Power BI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865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600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6,418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509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Total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60600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32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2509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82676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71.2%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4717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Stayed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82676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28.8%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4717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Churned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852639"/>
            <a:ext cx="815176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411 new customers (join_data) held out for prediction. Class imbalance addressed via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class_weight='balanced'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scale_pos_weight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86730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Cleaning &amp; Feature Engineering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329" y="1464915"/>
            <a:ext cx="4757291" cy="108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4106" y="162349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04106" y="1923901"/>
            <a:ext cx="4363938" cy="471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Domain-aware imputation —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Value_Deal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→'None',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Multiple_Lines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→'No',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Churn_Category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→'Others'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" y="2691333"/>
            <a:ext cx="4757291" cy="1074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4106" y="284991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New Features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04106" y="3150319"/>
            <a:ext cx="4363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Monthly_Charge_Range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Tenure_Group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binned for interpretability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329" y="3903464"/>
            <a:ext cx="4757291" cy="8533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4106" y="406204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Export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04106" y="4362450"/>
            <a:ext cx="4363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Cleaned data exported to SQL Server (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churn11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via SQLAlchemy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5969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Churn by Key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3136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Contract Type is the #1 Predictor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Month-to-month customers churn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46.5%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over 17× higher than two-year contracts.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88853"/>
            <a:ext cx="3902943" cy="10567"/>
          </a:xfrm>
          <a:prstGeom prst="rect">
            <a:avLst/>
          </a:prstGeom>
          <a:solidFill>
            <a:srgbClr val="746558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49701" y="26943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Revenue Gap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9701" y="305752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Stayed: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$3,745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· Churned: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$1,970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— nearly 2×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61457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Geographic &amp; Demographic Risk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6094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5 High-Churn States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76474"/>
            <a:ext cx="1880592" cy="1095003"/>
          </a:xfrm>
          <a:prstGeom prst="roundRect">
            <a:avLst>
              <a:gd name="adj" fmla="val 1942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1818233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Jammu &amp; Kashmir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402904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57.19%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676474"/>
            <a:ext cx="1880592" cy="1095003"/>
          </a:xfrm>
          <a:prstGeom prst="roundRect">
            <a:avLst>
              <a:gd name="adj" fmla="val 1942"/>
            </a:avLst>
          </a:pr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2660228" y="1818233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Assam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0228" y="2181448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38.13%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913236"/>
            <a:ext cx="3902943" cy="873547"/>
          </a:xfrm>
          <a:prstGeom prst="roundRect">
            <a:avLst>
              <a:gd name="adj" fmla="val 2434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637877" y="30549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Jharkhand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7877" y="3418210"/>
            <a:ext cx="36194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34.51%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1295549"/>
            <a:ext cx="22335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Churn by Age Group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676474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1343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Models &amp;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2825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 Forest — Best Balanced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84%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Churner Recall: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77%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Leakage-free pipeline: train/test split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before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encoding.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16398"/>
            <a:ext cx="3902943" cy="10567"/>
          </a:xfrm>
          <a:prstGeom prst="rect">
            <a:avLst/>
          </a:prstGeom>
          <a:solidFill>
            <a:srgbClr val="746558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49701" y="2821856"/>
            <a:ext cx="25845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Feature Importance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9701" y="3185071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Contract Type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alone explains ~25% of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7876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Prediction on New Customers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077343"/>
            <a:ext cx="4722763" cy="2087314"/>
          </a:xfrm>
          <a:prstGeom prst="roundRect">
            <a:avLst>
              <a:gd name="adj" fmla="val 1019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3925119" y="2077343"/>
            <a:ext cx="2361381" cy="1270471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2191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93.9% At Risk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525613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386 of 411 new customers predicted to churn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86500" y="2077343"/>
            <a:ext cx="2361381" cy="1270471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2077343"/>
            <a:ext cx="19050" cy="1270471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0" name="Text 7"/>
          <p:cNvSpPr/>
          <p:nvPr/>
        </p:nvSpPr>
        <p:spPr>
          <a:xfrm>
            <a:off x="6428259" y="22191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Why So High?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8259" y="2525613"/>
            <a:ext cx="20778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89% on month-to-month contracts (vs 49% historical base)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347814"/>
            <a:ext cx="4722763" cy="816843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5119" y="3347814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4" name="Text 11"/>
          <p:cNvSpPr/>
          <p:nvPr/>
        </p:nvSpPr>
        <p:spPr>
          <a:xfrm>
            <a:off x="4066877" y="3489573"/>
            <a:ext cx="18477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Structural, Not Error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6877" y="379608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90% lack Online Security; 90% lack Premium Support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2711"/>
            <a:ext cx="42520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Power BI Dashboards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9215"/>
            <a:ext cx="2870820" cy="1774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530650"/>
            <a:ext cx="1858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Summary Dashboard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83716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Churn by gender, age, state, internet type, tenure &amp; category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1579215"/>
            <a:ext cx="2870820" cy="1774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3530650"/>
            <a:ext cx="19210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Prediction Dashboard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383716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386 at-risk customers profiled by age, state, contract &amp; payment method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9745"/>
            <a:ext cx="53764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16249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7250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0–3 Months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3031554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Upgrade 386 at-risk to annual contracts; free Online Security + Premium Support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2016249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7250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3–12 Months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3031554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Outreach to high-score customers; review Fiber Optic pricing; restructure onboarding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2016249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7250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Estimated Impact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303155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~247 customers retained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~$750K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protected lifetime revenue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2026-06-11T15:47:46Z</dcterms:created>
  <dcterms:modified xsi:type="dcterms:W3CDTF">2026-06-11T15:47:46Z</dcterms:modified>
</cp:coreProperties>
</file>